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6459200" cx="63398400"/>
  <p:notesSz cx="6858000" cy="9144000"/>
  <p:embeddedFontLst>
    <p:embeddedFont>
      <p:font typeface="IBM Plex Sans Arabic Medium"/>
      <p:regular r:id="rId18"/>
      <p:bold r:id="rId19"/>
    </p:embeddedFont>
    <p:embeddedFont>
      <p:font typeface="IBM Plex Sans Arabic"/>
      <p:regular r:id="rId20"/>
      <p:bold r:id="rId21"/>
    </p:embeddedFont>
    <p:embeddedFont>
      <p:font typeface="Mate"/>
      <p:regular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7222">
          <p15:clr>
            <a:srgbClr val="747775"/>
          </p15:clr>
        </p15:guide>
        <p15:guide id="2" orient="horz" pos="178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222"/>
        <p:guide pos="17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Arabic-regular.fntdata"/><Relationship Id="rId11" Type="http://schemas.openxmlformats.org/officeDocument/2006/relationships/slide" Target="slides/slide6.xml"/><Relationship Id="rId22" Type="http://schemas.openxmlformats.org/officeDocument/2006/relationships/font" Target="fonts/Mate-regular.fntdata"/><Relationship Id="rId10" Type="http://schemas.openxmlformats.org/officeDocument/2006/relationships/slide" Target="slides/slide5.xml"/><Relationship Id="rId21" Type="http://schemas.openxmlformats.org/officeDocument/2006/relationships/font" Target="fonts/IBMPlexSansArabic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at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ArabicMedium-bold.fntdata"/><Relationship Id="rId6" Type="http://schemas.openxmlformats.org/officeDocument/2006/relationships/slide" Target="slides/slide1.xml"/><Relationship Id="rId18" Type="http://schemas.openxmlformats.org/officeDocument/2006/relationships/font" Target="fonts/IBMPlexSansArabic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-3174677" y="685800"/>
            <a:ext cx="13208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161120" y="1424080"/>
            <a:ext cx="590763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pic>
        <p:nvPicPr>
          <p:cNvPr id="16" name="Google Shape;16;p3" title="Bg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814400" y="0"/>
            <a:ext cx="65579602" cy="164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فقط (g3f53caaa25f_90_0)">
  <p:cSld name="عنوان فقط (g3f53caaa25f_90_0)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161120" y="1424080"/>
            <a:ext cx="590763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161120" y="6882720"/>
            <a:ext cx="590763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23"/>
              <a:buNone/>
              <a:defRPr sz="22123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ctrTitle"/>
          </p:nvPr>
        </p:nvSpPr>
        <p:spPr>
          <a:xfrm>
            <a:off x="2161178" y="2382640"/>
            <a:ext cx="59076300" cy="656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61775" lIns="561775" spcFirstLastPara="1" rIns="561775" wrap="square" tIns="5617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56"/>
              <a:buNone/>
              <a:defRPr sz="31956"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2161120" y="9069200"/>
            <a:ext cx="59076300" cy="2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161120" y="1424080"/>
            <a:ext cx="590763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161120" y="3687920"/>
            <a:ext cx="59076300" cy="10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indent="-931037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62"/>
              <a:buChar char="●"/>
              <a:defRPr sz="11062"/>
            </a:lvl1pPr>
            <a:lvl2pPr indent="-774954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2pPr>
            <a:lvl3pPr indent="-774954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3pPr>
            <a:lvl4pPr indent="-774954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4pPr>
            <a:lvl5pPr indent="-774954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5pPr>
            <a:lvl6pPr indent="-774954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6pPr>
            <a:lvl7pPr indent="-774954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7pPr>
            <a:lvl8pPr indent="-774954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8pPr>
            <a:lvl9pPr indent="-774954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2161120" y="1424080"/>
            <a:ext cx="590763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7"/>
              <a:buNone/>
              <a:defRPr sz="17207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2161120" y="3687920"/>
            <a:ext cx="27732600" cy="10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indent="-774954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1pPr>
            <a:lvl2pPr indent="-696849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2pPr>
            <a:lvl3pPr indent="-696849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3pPr>
            <a:lvl4pPr indent="-696849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●"/>
              <a:defRPr sz="7374"/>
            </a:lvl4pPr>
            <a:lvl5pPr indent="-696849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5pPr>
            <a:lvl6pPr indent="-696849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6pPr>
            <a:lvl7pPr indent="-696849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●"/>
              <a:defRPr sz="7374"/>
            </a:lvl7pPr>
            <a:lvl8pPr indent="-69684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8pPr>
            <a:lvl9pPr indent="-69684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33504640" y="3687920"/>
            <a:ext cx="27732600" cy="10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indent="-774954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1pPr>
            <a:lvl2pPr indent="-696849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2pPr>
            <a:lvl3pPr indent="-696849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3pPr>
            <a:lvl4pPr indent="-696849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●"/>
              <a:defRPr sz="7374"/>
            </a:lvl4pPr>
            <a:lvl5pPr indent="-696849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5pPr>
            <a:lvl6pPr indent="-696849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6pPr>
            <a:lvl7pPr indent="-696849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●"/>
              <a:defRPr sz="7374"/>
            </a:lvl7pPr>
            <a:lvl8pPr indent="-69684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8pPr>
            <a:lvl9pPr indent="-69684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2161120" y="1777920"/>
            <a:ext cx="19468800" cy="24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61775" lIns="561775" spcFirstLastPara="1" rIns="561775" wrap="square" tIns="5617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49"/>
              <a:buNone/>
              <a:defRPr sz="14749"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2161120" y="4446720"/>
            <a:ext cx="19468800" cy="101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indent="-696849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●"/>
              <a:defRPr sz="7374"/>
            </a:lvl1pPr>
            <a:lvl2pPr indent="-696849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2pPr>
            <a:lvl3pPr indent="-696849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3pPr>
            <a:lvl4pPr indent="-696849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●"/>
              <a:defRPr sz="7374"/>
            </a:lvl4pPr>
            <a:lvl5pPr indent="-696849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5pPr>
            <a:lvl6pPr indent="-696849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6pPr>
            <a:lvl7pPr indent="-696849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●"/>
              <a:defRPr sz="7374"/>
            </a:lvl7pPr>
            <a:lvl8pPr indent="-69684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○"/>
              <a:defRPr sz="7374"/>
            </a:lvl8pPr>
            <a:lvl9pPr indent="-69684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74"/>
              <a:buChar char="■"/>
              <a:defRPr sz="7374"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3399067" y="1440480"/>
            <a:ext cx="44150100" cy="130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98"/>
              <a:buNone/>
              <a:defRPr sz="29498"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31699200" y="-400"/>
            <a:ext cx="31699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61775" lIns="561775" spcFirstLastPara="1" rIns="561775" wrap="square" tIns="56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1"/>
          <p:cNvSpPr txBox="1"/>
          <p:nvPr>
            <p:ph type="title"/>
          </p:nvPr>
        </p:nvSpPr>
        <p:spPr>
          <a:xfrm>
            <a:off x="1840800" y="3946160"/>
            <a:ext cx="28046700" cy="47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561775" lIns="561775" spcFirstLastPara="1" rIns="561775" wrap="square" tIns="5617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11"/>
              <a:buNone/>
              <a:defRPr sz="25811"/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1840800" y="8969840"/>
            <a:ext cx="28046700" cy="3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05"/>
              <a:buNone/>
              <a:defRPr sz="12905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34247200" y="2317040"/>
            <a:ext cx="26603100" cy="118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-931037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62"/>
              <a:buChar char="●"/>
              <a:defRPr sz="11062"/>
            </a:lvl1pPr>
            <a:lvl2pPr indent="-774954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2pPr>
            <a:lvl3pPr indent="-774954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3pPr>
            <a:lvl4pPr indent="-774954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4pPr>
            <a:lvl5pPr indent="-774954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5pPr>
            <a:lvl6pPr indent="-774954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6pPr>
            <a:lvl7pPr indent="-774954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7pPr>
            <a:lvl8pPr indent="-774954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8pPr>
            <a:lvl9pPr indent="-774954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2161120" y="13537840"/>
            <a:ext cx="415917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62"/>
              <a:buNone/>
              <a:defRPr sz="11062"/>
            </a:lvl1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hasCustomPrompt="1" type="title"/>
          </p:nvPr>
        </p:nvSpPr>
        <p:spPr>
          <a:xfrm>
            <a:off x="2161120" y="3539600"/>
            <a:ext cx="59076300" cy="62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561775" lIns="561775" spcFirstLastPara="1" rIns="561775" wrap="square" tIns="5617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745"/>
              <a:buNone/>
              <a:defRPr sz="73745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2161120" y="10087120"/>
            <a:ext cx="59076300" cy="4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indent="-931037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62"/>
              <a:buChar char="●"/>
              <a:defRPr sz="11062"/>
            </a:lvl1pPr>
            <a:lvl2pPr indent="-774954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2pPr>
            <a:lvl3pPr indent="-774954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3pPr>
            <a:lvl4pPr indent="-774954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4pPr>
            <a:lvl5pPr indent="-774954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5pPr>
            <a:lvl6pPr indent="-774954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6pPr>
            <a:lvl7pPr indent="-774954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●"/>
              <a:defRPr sz="8604"/>
            </a:lvl7pPr>
            <a:lvl8pPr indent="-774954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○"/>
              <a:defRPr sz="8604"/>
            </a:lvl8pPr>
            <a:lvl9pPr indent="-774954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604"/>
              <a:buChar char="■"/>
              <a:defRPr sz="8604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5668" y="573361"/>
            <a:ext cx="2694661" cy="731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14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161120" y="1424080"/>
            <a:ext cx="590763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7"/>
              <a:buFont typeface="Arial"/>
              <a:buNone/>
              <a:defRPr b="0" i="0" sz="172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161120" y="3687920"/>
            <a:ext cx="59076300" cy="10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775" lIns="561775" spcFirstLastPara="1" rIns="561775" wrap="square" tIns="561775">
            <a:normAutofit/>
          </a:bodyPr>
          <a:lstStyle>
            <a:lvl1pPr indent="-93103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62"/>
              <a:buFont typeface="Arial"/>
              <a:buChar char="●"/>
              <a:defRPr b="0" i="0" sz="1106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774954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○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74954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■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774954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●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74954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○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774954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■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774954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●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774954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○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774954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4"/>
              <a:buFont typeface="Arial"/>
              <a:buChar char="■"/>
              <a:defRPr b="0" i="0" sz="860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8742374" y="14922294"/>
            <a:ext cx="38043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1775" lIns="561775" spcFirstLastPara="1" rIns="561775" wrap="square" tIns="5617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45"/>
              <a:buFont typeface="Arial"/>
              <a:buNone/>
              <a:defRPr b="0" i="0" sz="614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pic>
        <p:nvPicPr>
          <p:cNvPr id="9" name="Google Shape;9;p1" title="خلفيات القالب الجديد-07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29260810" cy="16459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 title="Bg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9260810" cy="1645920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4294967295" type="title"/>
          </p:nvPr>
        </p:nvSpPr>
        <p:spPr>
          <a:xfrm>
            <a:off x="13571853" y="7068494"/>
            <a:ext cx="36254400" cy="48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4875" lIns="764875" spcFirstLastPara="1" rIns="764875" wrap="square" tIns="76487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83"/>
              <a:buNone/>
            </a:pPr>
            <a:r>
              <a:rPr b="1" lang="ar" sz="25213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فريق نافع</a:t>
            </a:r>
            <a:endParaRPr b="1" sz="25213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4" name="Google Shape;64;p15"/>
          <p:cNvSpPr txBox="1"/>
          <p:nvPr>
            <p:ph idx="4294967295" type="title"/>
          </p:nvPr>
        </p:nvSpPr>
        <p:spPr>
          <a:xfrm>
            <a:off x="28926731" y="5317449"/>
            <a:ext cx="208998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4875" lIns="764875" spcFirstLastPara="1" rIns="764875" wrap="square" tIns="764875">
            <a:normAutofit fontScale="90000"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382"/>
              <a:buFont typeface="Arial"/>
              <a:buNone/>
            </a:pPr>
            <a:r>
              <a:rPr b="1" lang="ar" sz="12716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مسار المصرفية المفتوحة</a:t>
            </a:r>
            <a:endParaRPr b="1" sz="12716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5917" y="2140713"/>
            <a:ext cx="6156308" cy="120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09095" y="1230627"/>
            <a:ext cx="4948550" cy="30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3376" y="2022452"/>
            <a:ext cx="3808522" cy="14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42763020" y="4705600"/>
            <a:ext cx="120579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500" lIns="625500" spcFirstLastPara="1" rIns="625500" wrap="square" tIns="625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ar" sz="7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</a:t>
            </a:r>
            <a:endParaRPr b="0" i="0" sz="7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5404326" y="4705600"/>
            <a:ext cx="2928600" cy="13689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625500" lIns="0" spcFirstLastPara="1" rIns="0" wrap="square" tIns="625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3"/>
              <a:buFont typeface="Arial"/>
              <a:buNone/>
            </a:pPr>
            <a:r>
              <a:rPr b="1" i="0" lang="ar" sz="8895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01</a:t>
            </a:r>
            <a:endParaRPr b="1" i="0" sz="8895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2763020" y="7055398"/>
            <a:ext cx="120579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500" lIns="625500" spcFirstLastPara="1" rIns="625500" wrap="square" tIns="625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ar" sz="7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وحلّها</a:t>
            </a:r>
            <a:endParaRPr b="0" i="0" sz="7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5404326" y="7055398"/>
            <a:ext cx="2928600" cy="13689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625500" lIns="0" spcFirstLastPara="1" rIns="0" wrap="square" tIns="625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7"/>
              <a:buFont typeface="Arial"/>
              <a:buNone/>
            </a:pPr>
            <a:r>
              <a:rPr b="1" i="0" lang="ar" sz="8895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02</a:t>
            </a:r>
            <a:endParaRPr b="1" i="0" sz="8895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2781361" y="9498361"/>
            <a:ext cx="120579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500" lIns="625500" spcFirstLastPara="1" rIns="625500" wrap="square" tIns="625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ar" sz="7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ومواءمة الفكرة للمسار</a:t>
            </a:r>
            <a:endParaRPr b="0" i="0" sz="7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5404326" y="9498361"/>
            <a:ext cx="2928600" cy="13689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625500" lIns="0" spcFirstLastPara="1" rIns="0" wrap="square" tIns="625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7"/>
              <a:buFont typeface="Arial"/>
              <a:buNone/>
            </a:pPr>
            <a:r>
              <a:rPr b="1" i="0" lang="ar" sz="8895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03</a:t>
            </a:r>
            <a:endParaRPr b="1" i="0" sz="8895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2763020" y="11848159"/>
            <a:ext cx="120579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500" lIns="625500" spcFirstLastPara="1" rIns="625500" wrap="square" tIns="625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ar" sz="7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البيانات المستخدمة</a:t>
            </a:r>
            <a:endParaRPr b="0" i="0" sz="7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5404326" y="11848159"/>
            <a:ext cx="2928600" cy="13689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625500" lIns="0" spcFirstLastPara="1" rIns="0" wrap="square" tIns="625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7"/>
              <a:buFont typeface="Arial"/>
              <a:buNone/>
            </a:pPr>
            <a:r>
              <a:rPr b="1" i="0" lang="ar" sz="8895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04</a:t>
            </a:r>
            <a:endParaRPr b="1" i="0" sz="8895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6019442" y="4705625"/>
            <a:ext cx="165798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500" lIns="625500" spcFirstLastPara="1" rIns="625500" wrap="square" tIns="625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ar" sz="7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b="0" i="0" sz="7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3185246" y="4705600"/>
            <a:ext cx="2928600" cy="13689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625500" lIns="0" spcFirstLastPara="1" rIns="0" wrap="square" tIns="625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7"/>
              <a:buFont typeface="Arial"/>
              <a:buNone/>
            </a:pPr>
            <a:r>
              <a:rPr b="1" i="0" lang="ar" sz="8895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05</a:t>
            </a:r>
            <a:endParaRPr b="1" i="0" sz="8895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6020957" y="7055385"/>
            <a:ext cx="165798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500" lIns="625500" spcFirstLastPara="1" rIns="625500" wrap="square" tIns="625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ar" sz="7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الاختبار والتحقق</a:t>
            </a:r>
            <a:endParaRPr b="0" i="0" sz="7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3185246" y="7055398"/>
            <a:ext cx="2928600" cy="13689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625500" lIns="0" spcFirstLastPara="1" rIns="0" wrap="square" tIns="625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7"/>
              <a:buFont typeface="Arial"/>
              <a:buNone/>
            </a:pPr>
            <a:r>
              <a:rPr b="1" i="0" lang="ar" sz="8895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06</a:t>
            </a:r>
            <a:endParaRPr b="1" i="0" sz="8895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6024546" y="9498361"/>
            <a:ext cx="165798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500" lIns="625500" spcFirstLastPara="1" rIns="625500" wrap="square" tIns="625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ar" sz="7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التوضيحي والخطط المستقبلية</a:t>
            </a:r>
            <a:endParaRPr b="0" i="0" sz="7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3185246" y="9498361"/>
            <a:ext cx="2928600" cy="13689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625500" lIns="0" spcFirstLastPara="1" rIns="0" wrap="square" tIns="625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7"/>
              <a:buFont typeface="Arial"/>
              <a:buNone/>
            </a:pPr>
            <a:r>
              <a:rPr b="1" i="0" lang="ar" sz="8895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07</a:t>
            </a:r>
            <a:endParaRPr b="1" i="0" sz="8895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5494777" y="1942164"/>
            <a:ext cx="23067300" cy="1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5175" lIns="535175" spcFirstLastPara="1" rIns="535175" wrap="square" tIns="535175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ar" sz="9600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المحتويات</a:t>
            </a:r>
            <a:endParaRPr b="0" i="0" sz="9600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6448500" y="2606840"/>
            <a:ext cx="505002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597200" lIns="597200" spcFirstLastPara="1" rIns="597200" wrap="square" tIns="5972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88"/>
              <a:buFont typeface="Arial"/>
              <a:buNone/>
            </a:pPr>
            <a:r>
              <a:rPr b="1" i="0" lang="ar" sz="18288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</a:t>
            </a:r>
            <a:endParaRPr b="0" i="0" sz="18288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7149076" y="7564125"/>
            <a:ext cx="2257500" cy="19740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472875" lIns="0" spcFirstLastPara="1" rIns="0" wrap="square" tIns="47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6"/>
              <a:buFont typeface="Arial"/>
              <a:buNone/>
            </a:pPr>
            <a:r>
              <a:t/>
            </a:r>
            <a:endParaRPr b="1" i="0" sz="8276" u="none" cap="none" strike="noStrike">
              <a:solidFill>
                <a:srgbClr val="F3F3F3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5316050" y="9553873"/>
            <a:ext cx="59235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825" lIns="356825" spcFirstLastPara="1" rIns="356825" wrap="square" tIns="3568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ar" sz="5400" u="none" cap="none" strike="noStrike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عبدالإله المسفر</a:t>
            </a:r>
            <a:endParaRPr b="0" i="0" sz="5400" u="none" cap="none" strike="noStrike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2294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ar" sz="4000" u="none" cap="none" strike="noStrike">
                <a:solidFill>
                  <a:srgbClr val="BCA6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قائد الفريق</a:t>
            </a:r>
            <a:endParaRPr b="0" i="0" sz="4000" u="none" cap="none" strike="noStrike">
              <a:solidFill>
                <a:srgbClr val="BCA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7485" y="7881067"/>
            <a:ext cx="880654" cy="133996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37019775" y="9553873"/>
            <a:ext cx="59235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825" lIns="356825" spcFirstLastPara="1" rIns="356825" wrap="square" tIns="3568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2294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ar" sz="5400" u="none" cap="none" strike="noStrike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محمد السماعيل</a:t>
            </a:r>
            <a:endParaRPr b="0" i="0" sz="5400" u="none" cap="none" strike="noStrike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8723500" y="9553873"/>
            <a:ext cx="59235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825" lIns="356825" spcFirstLastPara="1" rIns="356825" wrap="square" tIns="3568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2294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ar" sz="5400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ماجد </a:t>
            </a:r>
            <a:r>
              <a:rPr b="0" i="0" lang="ar" sz="5400" u="none" cap="none" strike="noStrike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الدعجاني</a:t>
            </a:r>
            <a:endParaRPr b="0" i="0" sz="5400" u="none" cap="none" strike="noStrike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2130950" y="9553873"/>
            <a:ext cx="59235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825" lIns="356825" spcFirstLastPara="1" rIns="356825" wrap="square" tIns="3568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2294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ar" sz="5400" u="none" cap="none" strike="noStrike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محمد الونيس</a:t>
            </a:r>
            <a:endParaRPr b="0" i="0" sz="5400" u="none" cap="none" strike="noStrike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8852801" y="7564125"/>
            <a:ext cx="2257500" cy="19740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472875" lIns="0" spcFirstLastPara="1" rIns="0" wrap="square" tIns="47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6"/>
              <a:buFont typeface="Arial"/>
              <a:buNone/>
            </a:pPr>
            <a:r>
              <a:t/>
            </a:r>
            <a:endParaRPr b="1" i="0" sz="8276" u="none" cap="none" strike="noStrike">
              <a:solidFill>
                <a:srgbClr val="F3F3F3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41210" y="7881067"/>
            <a:ext cx="880654" cy="133996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/>
          <p:nvPr/>
        </p:nvSpPr>
        <p:spPr>
          <a:xfrm>
            <a:off x="30556526" y="7564125"/>
            <a:ext cx="2257500" cy="19740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472875" lIns="0" spcFirstLastPara="1" rIns="0" wrap="square" tIns="47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6"/>
              <a:buFont typeface="Arial"/>
              <a:buNone/>
            </a:pPr>
            <a:r>
              <a:t/>
            </a:r>
            <a:endParaRPr b="1" i="0" sz="8276" u="none" cap="none" strike="noStrike">
              <a:solidFill>
                <a:srgbClr val="F3F3F3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4935" y="7881067"/>
            <a:ext cx="880654" cy="133996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>
            <a:off x="13963951" y="7564125"/>
            <a:ext cx="2257500" cy="19740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472875" lIns="0" spcFirstLastPara="1" rIns="0" wrap="square" tIns="47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6"/>
              <a:buFont typeface="Arial"/>
              <a:buNone/>
            </a:pPr>
            <a:r>
              <a:t/>
            </a:r>
            <a:endParaRPr b="1" i="0" sz="8276" u="none" cap="none" strike="noStrike">
              <a:solidFill>
                <a:srgbClr val="F3F3F3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2360" y="7881067"/>
            <a:ext cx="880654" cy="133996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0427225" y="9553873"/>
            <a:ext cx="59235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825" lIns="356825" spcFirstLastPara="1" rIns="356825" wrap="square" tIns="3568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2294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ar" sz="5400" u="none" cap="none" strike="noStrike">
                <a:solidFill>
                  <a:srgbClr val="FFFFFF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الوليد المطيري</a:t>
            </a:r>
            <a:endParaRPr b="0" i="0" sz="5400" u="none" cap="none" strike="noStrike">
              <a:solidFill>
                <a:srgbClr val="FFFFFF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2260251" y="7564125"/>
            <a:ext cx="2257500" cy="1974000"/>
          </a:xfrm>
          <a:prstGeom prst="roundRect">
            <a:avLst>
              <a:gd fmla="val 18808" name="adj"/>
            </a:avLst>
          </a:prstGeom>
          <a:solidFill>
            <a:srgbClr val="A99FE3"/>
          </a:solidFill>
          <a:ln>
            <a:noFill/>
          </a:ln>
        </p:spPr>
        <p:txBody>
          <a:bodyPr anchorCtr="0" anchor="ctr" bIns="472875" lIns="0" spcFirstLastPara="1" rIns="0" wrap="square" tIns="47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76"/>
              <a:buFont typeface="Arial"/>
              <a:buNone/>
            </a:pPr>
            <a:r>
              <a:t/>
            </a:r>
            <a:endParaRPr b="1" i="0" sz="8276" u="none" cap="none" strike="noStrike">
              <a:solidFill>
                <a:srgbClr val="F3F3F3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48660" y="7881067"/>
            <a:ext cx="880654" cy="133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 title="B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14400" y="0"/>
            <a:ext cx="65579602" cy="164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32861250" y="1714500"/>
            <a:ext cx="238125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47625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ar" sz="11000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وحلّها</a:t>
            </a:r>
            <a:endParaRPr b="1" i="0" sz="11000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13" name="Google Shape;113;p18"/>
          <p:cNvGrpSpPr/>
          <p:nvPr/>
        </p:nvGrpSpPr>
        <p:grpSpPr>
          <a:xfrm>
            <a:off x="33337500" y="4476750"/>
            <a:ext cx="23336400" cy="9334500"/>
            <a:chOff x="33337500" y="4476750"/>
            <a:chExt cx="23336400" cy="9334500"/>
          </a:xfrm>
        </p:grpSpPr>
        <p:sp>
          <p:nvSpPr>
            <p:cNvPr id="114" name="Google Shape;114;p18"/>
            <p:cNvSpPr/>
            <p:nvPr/>
          </p:nvSpPr>
          <p:spPr>
            <a:xfrm>
              <a:off x="33337500" y="4476750"/>
              <a:ext cx="23336400" cy="9334500"/>
            </a:xfrm>
            <a:prstGeom prst="roundRect">
              <a:avLst>
                <a:gd fmla="val 4081" name="adj"/>
              </a:avLst>
            </a:prstGeom>
            <a:solidFill>
              <a:srgbClr val="26264E"/>
            </a:solidFill>
            <a:ln cap="flat" cmpd="sng" w="57150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34480500" y="5048250"/>
              <a:ext cx="21050400" cy="81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225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Arial"/>
                <a:buNone/>
              </a:pPr>
              <a:r>
                <a:rPr b="1" lang="ar" sz="85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المشكلة</a:t>
              </a:r>
              <a:endParaRPr b="1" i="0" sz="85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lang="ar" sz="7000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بعد دراسة اجريت في السعودية 8 عملاء من اصل 10 يملكون عدة حسابات بنكيه.. </a:t>
              </a: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أموال العميل مبعثرة بين عدة بنوك بلا رؤية موحّدة لصافي ثروته، ومبالغ خاملة تتآكل بالتضخم بلا ادخار أو استثمار. وإدارة الثروة اليوم حكرٌ على من يملك مستشارًا ماليًا — والبقية يقررون بالحدس، بلا أداة عربية تفهمهم.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6667500" y="4476750"/>
            <a:ext cx="23336400" cy="9334500"/>
            <a:chOff x="6667500" y="4476750"/>
            <a:chExt cx="23336400" cy="9334500"/>
          </a:xfrm>
        </p:grpSpPr>
        <p:sp>
          <p:nvSpPr>
            <p:cNvPr id="117" name="Google Shape;117;p18"/>
            <p:cNvSpPr/>
            <p:nvPr/>
          </p:nvSpPr>
          <p:spPr>
            <a:xfrm>
              <a:off x="6667500" y="4476750"/>
              <a:ext cx="23336400" cy="9334500"/>
            </a:xfrm>
            <a:prstGeom prst="roundRect">
              <a:avLst>
                <a:gd fmla="val 4081" name="adj"/>
              </a:avLst>
            </a:prstGeom>
            <a:solidFill>
              <a:srgbClr val="26264E"/>
            </a:solidFill>
            <a:ln cap="flat" cmpd="sng" w="571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8"/>
            <p:cNvSpPr txBox="1"/>
            <p:nvPr/>
          </p:nvSpPr>
          <p:spPr>
            <a:xfrm>
              <a:off x="7810500" y="5048250"/>
              <a:ext cx="21050400" cy="81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8500"/>
                <a:buFont typeface="Arial"/>
                <a:buNone/>
              </a:pPr>
              <a:r>
                <a:rPr b="1" i="0" lang="ar" sz="8500" u="none" cap="none" strike="noStrike">
                  <a:solidFill>
                    <a:srgbClr val="FFFFF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الحل </a:t>
              </a:r>
              <a:r>
                <a:rPr b="1" i="0" lang="ar" sz="8500" u="none" cap="none" strike="noStrike">
                  <a:solidFill>
                    <a:srgbClr val="FFFFF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المقترح</a:t>
              </a:r>
              <a:endParaRPr b="1" i="0" sz="85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نافع: إدارة ثروة شخصية في متناول الجميع عبر المصرفية المفتوحة — يوحّد صافي ثروتك، يكشف أموالك الخاملة ويحوّلها للادخار، ويبني خطة نمو نحو هدفك، بمحادثة صوتية بالعربية وتنفيذ آمن</a:t>
              </a:r>
              <a:r>
                <a:rPr lang="ar" sz="7000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عبر عدة طبقات حماية </a:t>
              </a: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5283200" y="1524000"/>
            <a:ext cx="52832100" cy="21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28"/>
              <a:buFont typeface="Arial"/>
              <a:buNone/>
            </a:pPr>
            <a:r>
              <a:rPr b="1" i="0" lang="ar" sz="15929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ومواءمة الفكرة للمسار</a:t>
            </a:r>
            <a:endParaRPr b="1" i="0" sz="15929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24" name="Google Shape;124;p19"/>
          <p:cNvGrpSpPr/>
          <p:nvPr/>
        </p:nvGrpSpPr>
        <p:grpSpPr>
          <a:xfrm>
            <a:off x="4762500" y="4762500"/>
            <a:ext cx="17145000" cy="9048900"/>
            <a:chOff x="4762500" y="4762500"/>
            <a:chExt cx="17145000" cy="9048900"/>
          </a:xfrm>
        </p:grpSpPr>
        <p:sp>
          <p:nvSpPr>
            <p:cNvPr id="125" name="Google Shape;125;p19"/>
            <p:cNvSpPr/>
            <p:nvPr/>
          </p:nvSpPr>
          <p:spPr>
            <a:xfrm>
              <a:off x="4762500" y="4762500"/>
              <a:ext cx="17145000" cy="9048900"/>
            </a:xfrm>
            <a:prstGeom prst="roundRect">
              <a:avLst>
                <a:gd fmla="val 4210" name="adj"/>
              </a:avLst>
            </a:prstGeom>
            <a:solidFill>
              <a:srgbClr val="25244C"/>
            </a:solidFill>
            <a:ln cap="flat" cmpd="sng" w="571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9"/>
            <p:cNvSpPr txBox="1"/>
            <p:nvPr/>
          </p:nvSpPr>
          <p:spPr>
            <a:xfrm>
              <a:off x="5715000" y="5524500"/>
              <a:ext cx="15240000" cy="75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3000"/>
                </a:spcBef>
                <a:spcAft>
                  <a:spcPts val="0"/>
                </a:spcAft>
                <a:buClr>
                  <a:schemeClr val="dk1"/>
                </a:buClr>
                <a:buSzPts val="7500"/>
                <a:buFont typeface="Arial"/>
                <a:buNone/>
              </a:pPr>
              <a:r>
                <a:rPr b="1" lang="ar" sz="75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الفوائد والابتكارات</a:t>
              </a:r>
              <a:endParaRPr b="1" i="0" sz="75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مستشار ثروة عربي صوتي في متناول الجميع: </a:t>
              </a:r>
              <a:endParaRPr sz="7000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ar" sz="7000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يفيد الجميع خصوصا كبار السن و ذوي النظر الضعيف</a:t>
              </a:r>
              <a:endParaRPr sz="7000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  <p:grpSp>
        <p:nvGrpSpPr>
          <p:cNvPr id="127" name="Google Shape;127;p19"/>
          <p:cNvGrpSpPr/>
          <p:nvPr/>
        </p:nvGrpSpPr>
        <p:grpSpPr>
          <a:xfrm>
            <a:off x="23126700" y="4762500"/>
            <a:ext cx="17145000" cy="9048900"/>
            <a:chOff x="23126700" y="4762500"/>
            <a:chExt cx="17145000" cy="9048900"/>
          </a:xfrm>
        </p:grpSpPr>
        <p:sp>
          <p:nvSpPr>
            <p:cNvPr id="128" name="Google Shape;128;p19"/>
            <p:cNvSpPr/>
            <p:nvPr/>
          </p:nvSpPr>
          <p:spPr>
            <a:xfrm>
              <a:off x="23126700" y="4762500"/>
              <a:ext cx="17145000" cy="9048900"/>
            </a:xfrm>
            <a:prstGeom prst="roundRect">
              <a:avLst>
                <a:gd fmla="val 4210" name="adj"/>
              </a:avLst>
            </a:prstGeom>
            <a:solidFill>
              <a:srgbClr val="25244C"/>
            </a:solidFill>
            <a:ln cap="flat" cmpd="sng" w="5715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24079200" y="5524500"/>
              <a:ext cx="15240000" cy="75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3000"/>
                </a:spcBef>
                <a:spcAft>
                  <a:spcPts val="0"/>
                </a:spcAft>
                <a:buClr>
                  <a:schemeClr val="dk1"/>
                </a:buClr>
                <a:buSzPts val="7500"/>
                <a:buFont typeface="Arial"/>
                <a:buNone/>
              </a:pPr>
              <a:r>
                <a:rPr b="1" lang="ar" sz="75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معالجة المشكلة</a:t>
              </a:r>
              <a:endParaRPr b="1" i="0" sz="75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ar" sz="7000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عدة حلول من ابرزها </a:t>
              </a: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الادخار الذكي يحلل من إنفاقك، يحجز احتياطي طوارئ، ثم يوصي بالمبلغ الخامل الآمن ويحوّله لحساب ادخار نافع بموافقتك. وإدارة الثروة تقيس التنويع والتوزيع القطاعي وتبني خطة عملية نحو هدفك.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  <p:grpSp>
        <p:nvGrpSpPr>
          <p:cNvPr id="130" name="Google Shape;130;p19"/>
          <p:cNvGrpSpPr/>
          <p:nvPr/>
        </p:nvGrpSpPr>
        <p:grpSpPr>
          <a:xfrm>
            <a:off x="41490900" y="4762500"/>
            <a:ext cx="17145000" cy="9048900"/>
            <a:chOff x="41490900" y="4762500"/>
            <a:chExt cx="17145000" cy="9048900"/>
          </a:xfrm>
        </p:grpSpPr>
        <p:sp>
          <p:nvSpPr>
            <p:cNvPr id="131" name="Google Shape;131;p19"/>
            <p:cNvSpPr/>
            <p:nvPr/>
          </p:nvSpPr>
          <p:spPr>
            <a:xfrm>
              <a:off x="41490900" y="4762500"/>
              <a:ext cx="17145000" cy="9048900"/>
            </a:xfrm>
            <a:prstGeom prst="roundRect">
              <a:avLst>
                <a:gd fmla="val 4210" name="adj"/>
              </a:avLst>
            </a:prstGeom>
            <a:solidFill>
              <a:srgbClr val="25244C"/>
            </a:solidFill>
            <a:ln cap="flat" cmpd="sng" w="57150">
              <a:solidFill>
                <a:srgbClr val="A99F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9"/>
            <p:cNvSpPr txBox="1"/>
            <p:nvPr/>
          </p:nvSpPr>
          <p:spPr>
            <a:xfrm>
              <a:off x="42443400" y="5524500"/>
              <a:ext cx="15240000" cy="75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3000"/>
                </a:spcBef>
                <a:spcAft>
                  <a:spcPts val="0"/>
                </a:spcAft>
                <a:buClr>
                  <a:schemeClr val="dk1"/>
                </a:buClr>
                <a:buSzPts val="7500"/>
                <a:buFont typeface="Arial"/>
                <a:buNone/>
              </a:pPr>
              <a:r>
                <a:rPr b="1" lang="ar" sz="75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لفكرة المطورة</a:t>
              </a:r>
              <a:endParaRPr b="0" i="0" sz="11000" u="none" cap="none" strike="noStrike">
                <a:solidFill>
                  <a:srgbClr val="A99FE3"/>
                </a:solidFill>
                <a:latin typeface="Mate"/>
                <a:ea typeface="Mate"/>
                <a:cs typeface="Mate"/>
                <a:sym typeface="Mate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75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محفظة نافع الرقمية وفوقها طبقة إدارة ثروة: صافي الثروة، الادخار الذكي، مخطط النمو، ومستشار مالي ذكي — تربط حسابات العميل في البنوك السعودية عبر المصرفية المفتوحة، صوتًا ونصًا بالعربية والإنجليزية.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/>
        </p:nvSpPr>
        <p:spPr>
          <a:xfrm>
            <a:off x="5283200" y="1524000"/>
            <a:ext cx="528321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28"/>
              <a:buFont typeface="Arial"/>
              <a:buNone/>
            </a:pPr>
            <a:r>
              <a:rPr b="1" i="0" lang="ar" sz="15929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البيانات المستخدمة</a:t>
            </a:r>
            <a:endParaRPr b="1" i="0" sz="15929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5283200" y="3657600"/>
            <a:ext cx="528321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64"/>
              <a:buFont typeface="Arial"/>
              <a:buNone/>
            </a:pPr>
            <a:r>
              <a:rPr b="0" i="0" lang="ar" sz="7964" u="none" cap="none" strike="noStrike">
                <a:solidFill>
                  <a:srgbClr val="E2E8F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بيانات تجريبية بالكامل مولّدة خصيصًا للنموذج الأولي — لا نستخدم أي بيانات عملاء حقيقية.</a:t>
            </a:r>
            <a:endParaRPr b="0" i="0" sz="7964" u="none" cap="none" strike="noStrike">
              <a:solidFill>
                <a:srgbClr val="E2E8F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39" name="Google Shape;139;p20"/>
          <p:cNvGrpSpPr/>
          <p:nvPr/>
        </p:nvGrpSpPr>
        <p:grpSpPr>
          <a:xfrm>
            <a:off x="34309050" y="6685339"/>
            <a:ext cx="23812500" cy="7050710"/>
            <a:chOff x="34309050" y="5905500"/>
            <a:chExt cx="23812500" cy="8763000"/>
          </a:xfrm>
        </p:grpSpPr>
        <p:sp>
          <p:nvSpPr>
            <p:cNvPr id="140" name="Google Shape;140;p20"/>
            <p:cNvSpPr/>
            <p:nvPr/>
          </p:nvSpPr>
          <p:spPr>
            <a:xfrm>
              <a:off x="34309050" y="5905500"/>
              <a:ext cx="23812500" cy="8763000"/>
            </a:xfrm>
            <a:prstGeom prst="roundRect">
              <a:avLst>
                <a:gd fmla="val 4347" name="adj"/>
              </a:avLst>
            </a:prstGeom>
            <a:solidFill>
              <a:srgbClr val="26264E"/>
            </a:solidFill>
            <a:ln cap="flat" cmpd="sng" w="5715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0"/>
            <p:cNvSpPr txBox="1"/>
            <p:nvPr/>
          </p:nvSpPr>
          <p:spPr>
            <a:xfrm>
              <a:off x="35452050" y="6667500"/>
              <a:ext cx="21526500" cy="72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9500"/>
                <a:buFont typeface="Arial"/>
                <a:buNone/>
              </a:pPr>
              <a:r>
                <a:rPr b="1" lang="ar" sz="95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مصادر البيانات</a:t>
              </a:r>
              <a:endParaRPr b="1" i="0" sz="95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بيانات مولّدة ذاتيًا: ملف CSV يضم 1,000 مستخدم افتراضي بأسماء عربية وحسابات بنكية سعودية، وقاعدة PostgreSQL مبذورة بمستخدمين مبدئيين وستة أشهر من سجل معاملات واقعي.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  <p:grpSp>
        <p:nvGrpSpPr>
          <p:cNvPr id="142" name="Google Shape;142;p20"/>
          <p:cNvGrpSpPr/>
          <p:nvPr/>
        </p:nvGrpSpPr>
        <p:grpSpPr>
          <a:xfrm>
            <a:off x="5276850" y="6685339"/>
            <a:ext cx="23812500" cy="7050710"/>
            <a:chOff x="5276850" y="5905500"/>
            <a:chExt cx="23812500" cy="8763000"/>
          </a:xfrm>
        </p:grpSpPr>
        <p:sp>
          <p:nvSpPr>
            <p:cNvPr id="143" name="Google Shape;143;p20"/>
            <p:cNvSpPr/>
            <p:nvPr/>
          </p:nvSpPr>
          <p:spPr>
            <a:xfrm>
              <a:off x="5276850" y="5905500"/>
              <a:ext cx="23812500" cy="8763000"/>
            </a:xfrm>
            <a:prstGeom prst="roundRect">
              <a:avLst>
                <a:gd fmla="val 4347" name="adj"/>
              </a:avLst>
            </a:prstGeom>
            <a:solidFill>
              <a:srgbClr val="26264E"/>
            </a:solidFill>
            <a:ln cap="flat" cmpd="sng" w="5715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6419850" y="6667500"/>
              <a:ext cx="21526500" cy="72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9500"/>
                <a:buFont typeface="Arial"/>
                <a:buNone/>
              </a:pPr>
              <a:r>
                <a:rPr b="1" lang="ar" sz="95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تنظيف ومعالجة البيانات</a:t>
              </a:r>
              <a:endParaRPr b="1" i="0" sz="95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معالجة منظّمة عبر سكربتات البذر: توحيد صيغ IBAN والأرصدة والحدود اليومية، تجزئة كلمات المرور بـ scrypt، وتشفير الأعمدة الحساسة بـ AES-GCM قبل التخزين.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1"/>
          <p:cNvGrpSpPr/>
          <p:nvPr/>
        </p:nvGrpSpPr>
        <p:grpSpPr>
          <a:xfrm>
            <a:off x="5283175" y="1524000"/>
            <a:ext cx="52831746" cy="1828800"/>
            <a:chOff x="762000" y="476250"/>
            <a:chExt cx="7620000" cy="571500"/>
          </a:xfrm>
        </p:grpSpPr>
        <p:sp>
          <p:nvSpPr>
            <p:cNvPr id="150" name="Google Shape;150;p21"/>
            <p:cNvSpPr/>
            <p:nvPr/>
          </p:nvSpPr>
          <p:spPr>
            <a:xfrm>
              <a:off x="762000" y="47625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1"/>
            <p:cNvSpPr txBox="1"/>
            <p:nvPr/>
          </p:nvSpPr>
          <p:spPr>
            <a:xfrm>
              <a:off x="762000" y="4762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28"/>
                <a:buFont typeface="Arial"/>
                <a:buNone/>
              </a:pPr>
              <a:r>
                <a:rPr b="1" i="0" lang="ar" sz="15929" u="none" cap="none" strike="noStrike">
                  <a:solidFill>
                    <a:srgbClr val="C36C4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كيفية توفير البيانات واستخدامها</a:t>
              </a:r>
              <a:endParaRPr b="1" i="0" sz="15929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33337500" y="4762500"/>
            <a:ext cx="24765000" cy="9048900"/>
            <a:chOff x="33337500" y="4762500"/>
            <a:chExt cx="24765000" cy="9048900"/>
          </a:xfrm>
        </p:grpSpPr>
        <p:sp>
          <p:nvSpPr>
            <p:cNvPr id="153" name="Google Shape;153;p21"/>
            <p:cNvSpPr/>
            <p:nvPr/>
          </p:nvSpPr>
          <p:spPr>
            <a:xfrm>
              <a:off x="33337500" y="4762500"/>
              <a:ext cx="24765000" cy="9048900"/>
            </a:xfrm>
            <a:prstGeom prst="roundRect">
              <a:avLst>
                <a:gd fmla="val 4210" name="adj"/>
              </a:avLst>
            </a:prstGeom>
            <a:solidFill>
              <a:srgbClr val="26264E"/>
            </a:solidFill>
            <a:ln cap="flat" cmpd="sng" w="7620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34766250" y="5429250"/>
              <a:ext cx="21907500" cy="77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2250"/>
                </a:spcBef>
                <a:spcAft>
                  <a:spcPts val="0"/>
                </a:spcAft>
                <a:buClr>
                  <a:schemeClr val="dk1"/>
                </a:buClr>
                <a:buSzPts val="10000"/>
                <a:buFont typeface="Arial"/>
                <a:buNone/>
              </a:pPr>
              <a:r>
                <a:rPr b="1" lang="ar" sz="100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الحصول على البيانات</a:t>
              </a:r>
              <a:endParaRPr sz="15000">
                <a:solidFill>
                  <a:srgbClr val="C36C4F"/>
                </a:solidFill>
                <a:latin typeface="Mate"/>
                <a:ea typeface="Mate"/>
                <a:cs typeface="Mate"/>
                <a:sym typeface="Mate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58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PostgreSQL 16 يُبذر آليًا من ملفات CSV عبر Alembic وسكربتات البذر، مع عزل صارم: المتصفح لا يستلم مفاتيح أو أسرارًا أو معرفات داخلية إطلاقًا.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  <p:grpSp>
        <p:nvGrpSpPr>
          <p:cNvPr id="155" name="Google Shape;155;p21"/>
          <p:cNvGrpSpPr/>
          <p:nvPr/>
        </p:nvGrpSpPr>
        <p:grpSpPr>
          <a:xfrm>
            <a:off x="5276850" y="4762500"/>
            <a:ext cx="24765000" cy="9048900"/>
            <a:chOff x="5276850" y="4762500"/>
            <a:chExt cx="24765000" cy="9048900"/>
          </a:xfrm>
        </p:grpSpPr>
        <p:sp>
          <p:nvSpPr>
            <p:cNvPr id="156" name="Google Shape;156;p21"/>
            <p:cNvSpPr/>
            <p:nvPr/>
          </p:nvSpPr>
          <p:spPr>
            <a:xfrm>
              <a:off x="5276850" y="4762500"/>
              <a:ext cx="24765000" cy="9048900"/>
            </a:xfrm>
            <a:prstGeom prst="roundRect">
              <a:avLst>
                <a:gd fmla="val 4210" name="adj"/>
              </a:avLst>
            </a:prstGeom>
            <a:solidFill>
              <a:srgbClr val="26264E"/>
            </a:solidFill>
            <a:ln cap="flat" cmpd="sng" w="7620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6705600" y="5429250"/>
              <a:ext cx="21907500" cy="77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2250"/>
                </a:spcBef>
                <a:spcAft>
                  <a:spcPts val="0"/>
                </a:spcAft>
                <a:buClr>
                  <a:schemeClr val="dk1"/>
                </a:buClr>
                <a:buSzPts val="10000"/>
                <a:buFont typeface="Arial"/>
                <a:buNone/>
              </a:pPr>
              <a:r>
                <a:rPr b="1" lang="ar" sz="100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تحليل واستخدام البيانات</a:t>
              </a:r>
              <a:endParaRPr b="1" i="0" sz="100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58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البيانات تغذّي صافي الثروة والادخار الذكي (stable-floor-v1) ومخطط النمو ودرجة التنويع — جميعها حسابات حتمية على الخادم بدقة Decimal عالية، والنموذج يعرض النتيجة ولا ينتجها.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/>
        </p:nvSpPr>
        <p:spPr>
          <a:xfrm>
            <a:off x="5283200" y="1524000"/>
            <a:ext cx="528321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28"/>
              <a:buFont typeface="Arial"/>
              <a:buNone/>
            </a:pPr>
            <a:r>
              <a:rPr b="1" i="0" lang="ar" sz="15929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b="1" i="0" sz="15929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5283200" y="3657600"/>
            <a:ext cx="52832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64"/>
              <a:buFont typeface="Arial"/>
              <a:buNone/>
            </a:pPr>
            <a:r>
              <a:rPr b="0" i="0" lang="ar" sz="7964" u="none" cap="none" strike="noStrike">
                <a:solidFill>
                  <a:srgbClr val="E2E8F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المشروع:</a:t>
            </a:r>
            <a:endParaRPr b="0" i="0" sz="7964" u="none" cap="none" strike="noStrike">
              <a:solidFill>
                <a:srgbClr val="E2E8F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64" name="Google Shape;164;p22"/>
          <p:cNvGrpSpPr/>
          <p:nvPr/>
        </p:nvGrpSpPr>
        <p:grpSpPr>
          <a:xfrm>
            <a:off x="5715000" y="5715000"/>
            <a:ext cx="51968400" cy="8382000"/>
            <a:chOff x="5715000" y="5715000"/>
            <a:chExt cx="51968400" cy="8382000"/>
          </a:xfrm>
        </p:grpSpPr>
        <p:sp>
          <p:nvSpPr>
            <p:cNvPr id="165" name="Google Shape;165;p22"/>
            <p:cNvSpPr/>
            <p:nvPr/>
          </p:nvSpPr>
          <p:spPr>
            <a:xfrm>
              <a:off x="41490900" y="5715000"/>
              <a:ext cx="16192500" cy="8382000"/>
            </a:xfrm>
            <a:prstGeom prst="roundRect">
              <a:avLst>
                <a:gd fmla="val 4545" name="adj"/>
              </a:avLst>
            </a:prstGeom>
            <a:solidFill>
              <a:srgbClr val="26264E"/>
            </a:solidFill>
            <a:ln cap="flat" cmpd="sng" w="5715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2"/>
            <p:cNvSpPr txBox="1"/>
            <p:nvPr/>
          </p:nvSpPr>
          <p:spPr>
            <a:xfrm>
              <a:off x="42443400" y="6286500"/>
              <a:ext cx="14287500" cy="72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2250"/>
                </a:spcBef>
                <a:spcAft>
                  <a:spcPts val="0"/>
                </a:spcAft>
                <a:buClr>
                  <a:schemeClr val="dk1"/>
                </a:buClr>
                <a:buSzPts val="9000"/>
                <a:buFont typeface="Arial"/>
                <a:buNone/>
              </a:pPr>
              <a:r>
                <a:rPr b="1" lang="ar" sz="90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اللغات البرمجية</a:t>
              </a:r>
              <a:endParaRPr b="1" i="0" sz="90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b="0" i="0" lang="ar" sz="7000" u="none" cap="none" strike="noStrike">
                  <a:solidFill>
                    <a:srgbClr val="94A3B8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اللغات الأساسية المستخدمة في تطوير المشروع:</a:t>
              </a:r>
              <a:endParaRPr b="0" i="0" sz="7000" u="none" cap="none" strike="noStrike">
                <a:solidFill>
                  <a:srgbClr val="94A3B8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-596900" lvl="0" marL="45720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CBD5E1"/>
                </a:buClr>
                <a:buSzPts val="7000"/>
                <a:buFont typeface="IBM Plex Sans Arabic"/>
                <a:buChar char="●"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Python 3.13 لخدمات الوكيل والتفاعل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-596900" lvl="0" marL="457200" marR="0" rtl="1" algn="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7000"/>
                <a:buFont typeface="IBM Plex Sans Arabic"/>
                <a:buChar char="●"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TypeScript مع React 19 للواجهة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23602950" y="5715000"/>
              <a:ext cx="16192500" cy="8382000"/>
            </a:xfrm>
            <a:prstGeom prst="roundRect">
              <a:avLst>
                <a:gd fmla="val 4545" name="adj"/>
              </a:avLst>
            </a:prstGeom>
            <a:solidFill>
              <a:srgbClr val="26264E"/>
            </a:solidFill>
            <a:ln cap="flat" cmpd="sng" w="5715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2"/>
            <p:cNvSpPr txBox="1"/>
            <p:nvPr/>
          </p:nvSpPr>
          <p:spPr>
            <a:xfrm>
              <a:off x="24555450" y="6286500"/>
              <a:ext cx="14287500" cy="72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2250"/>
                </a:spcBef>
                <a:spcAft>
                  <a:spcPts val="0"/>
                </a:spcAft>
                <a:buClr>
                  <a:schemeClr val="dk1"/>
                </a:buClr>
                <a:buSzPts val="9000"/>
                <a:buFont typeface="Arial"/>
                <a:buNone/>
              </a:pPr>
              <a:r>
                <a:rPr b="1" lang="ar" sz="90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الأطر التقنية</a:t>
              </a:r>
              <a:endParaRPr b="1" i="0" sz="90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b="0" i="0" lang="ar" sz="5200" u="none" cap="none" strike="noStrike">
                  <a:solidFill>
                    <a:srgbClr val="94A3B8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</a:t>
              </a:r>
              <a:r>
                <a:rPr b="0" i="0" lang="ar" sz="7000" u="none" cap="none" strike="noStrike">
                  <a:solidFill>
                    <a:srgbClr val="94A3B8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لمكتبات وأطر العمل لتسريع التطوير:</a:t>
              </a:r>
              <a:endParaRPr b="0" i="0" sz="7000" u="none" cap="none" strike="noStrike">
                <a:solidFill>
                  <a:srgbClr val="94A3B8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-596900" lvl="0" marL="45720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CBD5E1"/>
                </a:buClr>
                <a:buSzPts val="7000"/>
                <a:buFont typeface="IBM Plex Sans Arabic"/>
                <a:buChar char="●"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LangChain + LangGraph + FastAPI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-596900" lvl="0" marL="457200" marR="0" rtl="1" algn="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7000"/>
                <a:buFont typeface="IBM Plex Sans Arabic"/>
                <a:buChar char="●"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Next.js 15 و SQLAlchemy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5715000" y="5715000"/>
              <a:ext cx="16192500" cy="8382000"/>
            </a:xfrm>
            <a:prstGeom prst="roundRect">
              <a:avLst>
                <a:gd fmla="val 4545" name="adj"/>
              </a:avLst>
            </a:prstGeom>
            <a:solidFill>
              <a:srgbClr val="26264E"/>
            </a:solidFill>
            <a:ln cap="flat" cmpd="sng" w="57150">
              <a:solidFill>
                <a:srgbClr val="C36C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2"/>
            <p:cNvSpPr txBox="1"/>
            <p:nvPr/>
          </p:nvSpPr>
          <p:spPr>
            <a:xfrm>
              <a:off x="6667500" y="6286500"/>
              <a:ext cx="14287500" cy="72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2250"/>
                </a:spcBef>
                <a:spcAft>
                  <a:spcPts val="0"/>
                </a:spcAft>
                <a:buClr>
                  <a:schemeClr val="dk1"/>
                </a:buClr>
                <a:buSzPts val="9000"/>
                <a:buFont typeface="Arial"/>
                <a:buNone/>
              </a:pPr>
              <a:r>
                <a:rPr b="1" lang="ar" sz="9000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الأدوات البرمجية</a:t>
              </a:r>
              <a:endParaRPr b="1" i="0" sz="900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b="0" i="0" lang="ar" sz="5200" u="none" cap="none" strike="noStrike">
                  <a:solidFill>
                    <a:srgbClr val="94A3B8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أ</a:t>
              </a:r>
              <a:r>
                <a:rPr b="0" i="0" lang="ar" sz="7000" u="none" cap="none" strike="noStrike">
                  <a:solidFill>
                    <a:srgbClr val="94A3B8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دوات التطوير والبيئات البرمجية:</a:t>
              </a:r>
              <a:endParaRPr b="0" i="0" sz="7000" u="none" cap="none" strike="noStrike">
                <a:solidFill>
                  <a:srgbClr val="94A3B8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-596900" lvl="0" marL="457200" marR="0" rtl="1" algn="r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CBD5E1"/>
                </a:buClr>
                <a:buSzPts val="7000"/>
                <a:buFont typeface="IBM Plex Sans Arabic"/>
                <a:buChar char="●"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PostgreSQL 16 و Docker Compose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-596900" lvl="0" marL="457200" marR="0" rtl="1" algn="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7000"/>
                <a:buFont typeface="IBM Plex Sans Arabic"/>
                <a:buChar char="●"/>
              </a:pPr>
              <a:r>
                <a:rPr b="0" i="0" lang="ar" sz="7000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Git / GitHub و Alembic للهجرات</a:t>
              </a:r>
              <a:endParaRPr b="0" i="0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/>
          <p:nvPr/>
        </p:nvSpPr>
        <p:spPr>
          <a:xfrm>
            <a:off x="6983625" y="4910375"/>
            <a:ext cx="23460600" cy="9825600"/>
          </a:xfrm>
          <a:prstGeom prst="roundRect">
            <a:avLst>
              <a:gd fmla="val 11177" name="adj"/>
            </a:avLst>
          </a:prstGeom>
          <a:solidFill>
            <a:srgbClr val="1E1B4B">
              <a:alpha val="6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33008625" y="4910375"/>
            <a:ext cx="23460600" cy="9825600"/>
          </a:xfrm>
          <a:prstGeom prst="roundRect">
            <a:avLst>
              <a:gd fmla="val 11177" name="adj"/>
            </a:avLst>
          </a:prstGeom>
          <a:solidFill>
            <a:srgbClr val="1E1B4B">
              <a:alpha val="6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5283200" y="1524000"/>
            <a:ext cx="528321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28"/>
              <a:buFont typeface="Arial"/>
              <a:buNone/>
            </a:pPr>
            <a:r>
              <a:rPr b="1" i="0" lang="ar" sz="15929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الاختبار والتحقق</a:t>
            </a:r>
            <a:endParaRPr b="1" i="0" sz="15929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35001032" y="5486400"/>
            <a:ext cx="19811905" cy="76204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78"/>
              <a:buFont typeface="Arial"/>
              <a:buNone/>
            </a:pPr>
            <a:r>
              <a:rPr b="1" lang="ar" sz="11378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النماذج الأولية والنتائج</a:t>
            </a:r>
            <a:endParaRPr b="0" i="0" sz="11378" u="none" cap="none" strike="noStrike">
              <a:solidFill>
                <a:srgbClr val="C36C4F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ar" sz="7000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نموذج أولي متكامل من الطرف إلى الطرف: صافي الثروة، الادخار الذكي، مخطط النمو، محفظة استثمارية على تداول، ومساعد صوتي ينفّذ عمليات مالية حقيقية بإيصالات موثّقة.</a:t>
            </a:r>
            <a:endParaRPr b="0" i="0" sz="7000" u="none" cap="none" strike="noStrike">
              <a:solidFill>
                <a:srgbClr val="C36C4F"/>
              </a:solidFill>
              <a:latin typeface="Mate"/>
              <a:ea typeface="Mate"/>
              <a:cs typeface="Mate"/>
              <a:sym typeface="Mate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8585159" y="5486400"/>
            <a:ext cx="19811905" cy="76204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78"/>
              <a:buFont typeface="Arial"/>
              <a:buNone/>
            </a:pPr>
            <a:r>
              <a:rPr b="1" lang="ar" sz="11378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نتائج الاختبار الحي</a:t>
            </a:r>
            <a:endParaRPr b="0" i="0" sz="11378" u="none" cap="none" strike="noStrike">
              <a:solidFill>
                <a:srgbClr val="C36C4F"/>
              </a:solidFill>
              <a:latin typeface="Mate"/>
              <a:ea typeface="Mate"/>
              <a:cs typeface="Mate"/>
              <a:sym typeface="Mate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ar" sz="7000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تم تجربة اكثر من 680 طلب ونجح نافع في 539 طلب بنسبة نجاح 78% على اكثر من مئة سيناريو</a:t>
            </a:r>
            <a:endParaRPr b="0" i="0" sz="7000" u="none" cap="none" strike="noStrike">
              <a:solidFill>
                <a:srgbClr val="C36C4F"/>
              </a:solidFill>
              <a:latin typeface="Mate"/>
              <a:ea typeface="Mate"/>
              <a:cs typeface="Mate"/>
              <a:sym typeface="Mat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/>
        </p:nvSpPr>
        <p:spPr>
          <a:xfrm>
            <a:off x="3962400" y="1524000"/>
            <a:ext cx="55473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28"/>
              <a:buFont typeface="Arial"/>
              <a:buNone/>
            </a:pPr>
            <a:r>
              <a:rPr b="1" i="0" lang="ar" sz="15929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التوضيحي (لقطات - فيديوهات - محاكاة)</a:t>
            </a:r>
            <a:endParaRPr b="1" i="0" sz="15929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5" name="Google Shape;185;p24"/>
          <p:cNvGrpSpPr/>
          <p:nvPr/>
        </p:nvGrpSpPr>
        <p:grpSpPr>
          <a:xfrm>
            <a:off x="30728688" y="4572000"/>
            <a:ext cx="27386718" cy="8839680"/>
            <a:chOff x="6286500" y="1428750"/>
            <a:chExt cx="2095500" cy="2762400"/>
          </a:xfrm>
        </p:grpSpPr>
        <p:sp>
          <p:nvSpPr>
            <p:cNvPr id="186" name="Google Shape;186;p24"/>
            <p:cNvSpPr/>
            <p:nvPr/>
          </p:nvSpPr>
          <p:spPr>
            <a:xfrm>
              <a:off x="6286500" y="1428750"/>
              <a:ext cx="2095500" cy="2762400"/>
            </a:xfrm>
            <a:prstGeom prst="roundRect">
              <a:avLst>
                <a:gd fmla="val 7272" name="adj"/>
              </a:avLst>
            </a:prstGeom>
            <a:solidFill>
              <a:srgbClr val="1E1B4B">
                <a:alpha val="40000"/>
              </a:srgbClr>
            </a:solidFill>
            <a:ln cap="flat" cmpd="sng" w="81350">
              <a:solidFill>
                <a:srgbClr val="2D2A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4"/>
            <p:cNvSpPr txBox="1"/>
            <p:nvPr/>
          </p:nvSpPr>
          <p:spPr>
            <a:xfrm>
              <a:off x="6477000" y="1619250"/>
              <a:ext cx="1714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3413"/>
                </a:spcBef>
                <a:spcAft>
                  <a:spcPts val="0"/>
                </a:spcAft>
                <a:buClr>
                  <a:schemeClr val="dk1"/>
                </a:buClr>
                <a:buSzPts val="8533"/>
                <a:buFont typeface="Arial"/>
                <a:buNone/>
              </a:pPr>
              <a:r>
                <a:rPr b="1" lang="ar" sz="12033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الهدف من العرض</a:t>
              </a:r>
              <a:endParaRPr b="0" i="0" sz="19429" u="none" cap="none" strike="noStrike">
                <a:solidFill>
                  <a:srgbClr val="C36C4F"/>
                </a:solidFill>
                <a:latin typeface="Mate"/>
                <a:ea typeface="Mate"/>
                <a:cs typeface="Mate"/>
                <a:sym typeface="Mate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3413"/>
                </a:spcBef>
                <a:spcAft>
                  <a:spcPts val="0"/>
                </a:spcAft>
                <a:buClr>
                  <a:srgbClr val="000000"/>
                </a:buClr>
                <a:buSzPts val="6258"/>
                <a:buFont typeface="Arial"/>
                <a:buNone/>
              </a:pPr>
              <a:r>
                <a:rPr b="0" i="0" lang="ar" sz="7258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عرض حي للمنتج الفعلي: صافي الثروة، الادخار الذكي يكشف مبلغًا خاملًا ويحوّله بموافقتك، ومخطط النمو نحو هدفك — كله بأوامر صوتية بالعربية وتأكيد OTP، وبنجاح </a:t>
              </a:r>
              <a:r>
                <a:rPr b="1" lang="ar" sz="7258">
                  <a:solidFill>
                    <a:srgbClr val="C36C4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78%</a:t>
              </a:r>
              <a:r>
                <a:rPr b="0" i="0" lang="ar" sz="7258" u="none" cap="none" strike="noStrike">
                  <a:solidFill>
                    <a:srgbClr val="CBD5E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سيناريو تشغيليًا في الاختبار الحي الموثّق.</a:t>
              </a:r>
              <a:endParaRPr b="0" i="0" sz="7258" u="none" cap="none" strike="noStrike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</p:grpSp>
      <p:pic>
        <p:nvPicPr>
          <p:cNvPr id="188" name="Google Shape;1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875" y="3846677"/>
            <a:ext cx="20809600" cy="117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/>
        </p:nvSpPr>
        <p:spPr>
          <a:xfrm>
            <a:off x="3962400" y="1524000"/>
            <a:ext cx="55473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28"/>
              <a:buFont typeface="Arial"/>
              <a:buNone/>
            </a:pPr>
            <a:r>
              <a:rPr b="1" i="0" lang="ar" sz="15929" u="none" cap="none" strike="noStrike">
                <a:solidFill>
                  <a:srgbClr val="C36C4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التحديات والخطط المستقبلية</a:t>
            </a:r>
            <a:endParaRPr b="1" i="0" sz="15929" u="none" cap="none" strike="noStrike">
              <a:solidFill>
                <a:srgbClr val="C36C4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42265600" y="4267200"/>
            <a:ext cx="171705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00475" lIns="1300475" spcFirstLastPara="1" rIns="1300475" wrap="square" tIns="13004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53"/>
              <a:buFont typeface="Arial"/>
              <a:buNone/>
            </a:pPr>
            <a:r>
              <a:rPr b="1" i="0" lang="ar" sz="13653" u="none" cap="none" strike="noStrike">
                <a:solidFill>
                  <a:srgbClr val="BCA6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01</a:t>
            </a:r>
            <a:endParaRPr b="1" i="0" sz="13653" u="none" cap="none" strike="noStrike">
              <a:solidFill>
                <a:srgbClr val="BCA6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9102"/>
              <a:buFont typeface="Arial"/>
              <a:buNone/>
            </a:pPr>
            <a:r>
              <a:rPr b="1" i="0" lang="ar" sz="9102" u="none" cap="none" strike="noStrike">
                <a:solidFill>
                  <a:srgbClr val="BCA6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التحديات</a:t>
            </a:r>
            <a:endParaRPr b="1" i="0" sz="9102" u="none" cap="none" strike="noStrike">
              <a:solidFill>
                <a:srgbClr val="BCA6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rial"/>
              <a:buNone/>
            </a:pPr>
            <a:r>
              <a:rPr b="0" i="0" lang="ar" sz="6258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بيئة تجريبية دون واجهات مصرفية مفتوحة فعلية،</a:t>
            </a:r>
            <a:endParaRPr b="0" i="0" sz="6258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413"/>
              </a:spcBef>
              <a:spcAft>
                <a:spcPts val="0"/>
              </a:spcAft>
              <a:buClr>
                <a:srgbClr val="000000"/>
              </a:buClr>
              <a:buSzPts val="5973"/>
              <a:buFont typeface="Arial"/>
              <a:buNone/>
            </a:pPr>
            <a:r>
              <a:rPr b="0" i="0" lang="ar" sz="5973" u="none" cap="none" strike="noStrike">
                <a:solidFill>
                  <a:srgbClr val="A5B4F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وضبط فهم الأرقام والأسماء العربية المنطوقة، وتأمين وكيل ينفّذ عمليات مالية حقيقية.</a:t>
            </a:r>
            <a:endParaRPr b="0" i="0" sz="5973" u="none" cap="none" strike="noStrike">
              <a:solidFill>
                <a:srgbClr val="A5B4F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23114000" y="4267200"/>
            <a:ext cx="171705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00475" lIns="1300475" spcFirstLastPara="1" rIns="1300475" wrap="square" tIns="13004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53"/>
              <a:buFont typeface="Arial"/>
              <a:buNone/>
            </a:pPr>
            <a:r>
              <a:rPr b="1" i="0" lang="ar" sz="13653" u="none" cap="none" strike="noStrike">
                <a:solidFill>
                  <a:srgbClr val="BCA6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02</a:t>
            </a:r>
            <a:endParaRPr b="1" i="0" sz="13653" u="none" cap="none" strike="noStrike">
              <a:solidFill>
                <a:srgbClr val="BCA6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9102"/>
              <a:buFont typeface="Arial"/>
              <a:buNone/>
            </a:pPr>
            <a:r>
              <a:rPr b="1" i="0" lang="ar" sz="9102" u="none" cap="none" strike="noStrike">
                <a:solidFill>
                  <a:srgbClr val="BCA6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تحتاج إلى المساعدة فيه</a:t>
            </a:r>
            <a:endParaRPr b="1" i="0" sz="9102" u="none" cap="none" strike="noStrike">
              <a:solidFill>
                <a:srgbClr val="BCA6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rial"/>
              <a:buNone/>
            </a:pPr>
            <a:r>
              <a:rPr b="0" i="0" lang="ar" sz="6258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الوصول إلى واجهات المصرفية المفتوحة السعودية</a:t>
            </a:r>
            <a:endParaRPr b="0" i="0" sz="6258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413"/>
              </a:spcBef>
              <a:spcAft>
                <a:spcPts val="0"/>
              </a:spcAft>
              <a:buClr>
                <a:srgbClr val="000000"/>
              </a:buClr>
              <a:buSzPts val="5973"/>
              <a:buFont typeface="Arial"/>
              <a:buNone/>
            </a:pPr>
            <a:r>
              <a:rPr b="0" i="0" lang="ar" sz="5973" u="none" cap="none" strike="noStrike">
                <a:solidFill>
                  <a:srgbClr val="A5B4F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وبيئة Sandbox بنكية لربط حسابات فعلية، ومصدر أسعار تداول مباشر بدل البيانات التجريبية.</a:t>
            </a:r>
            <a:endParaRPr b="0" i="0" sz="5973" u="none" cap="none" strike="noStrike">
              <a:solidFill>
                <a:srgbClr val="A5B4F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3962400" y="4267200"/>
            <a:ext cx="171705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00475" lIns="1300475" spcFirstLastPara="1" rIns="1300475" wrap="square" tIns="13004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53"/>
              <a:buFont typeface="Arial"/>
              <a:buNone/>
            </a:pPr>
            <a:r>
              <a:rPr b="1" i="0" lang="ar" sz="13653" u="none" cap="none" strike="noStrike">
                <a:solidFill>
                  <a:srgbClr val="BCA6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03</a:t>
            </a:r>
            <a:endParaRPr b="1" i="0" sz="13653" u="none" cap="none" strike="noStrike">
              <a:solidFill>
                <a:srgbClr val="BCA6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9102"/>
              <a:buFont typeface="Arial"/>
              <a:buNone/>
            </a:pPr>
            <a:r>
              <a:rPr b="1" i="0" lang="ar" sz="9102" u="none" cap="none" strike="noStrike">
                <a:solidFill>
                  <a:srgbClr val="BCA6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العمل المستقبلي</a:t>
            </a:r>
            <a:endParaRPr b="1" i="0" sz="9102" u="none" cap="none" strike="noStrike">
              <a:solidFill>
                <a:srgbClr val="BCA6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12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rial"/>
              <a:buNone/>
            </a:pPr>
            <a:r>
              <a:rPr b="0" i="0" lang="ar" sz="6258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ربط تدريجي بالبنوك السعودية، وأهداف ادخار متعددة، وتوسيع المستشار المالي الذكي.</a:t>
            </a:r>
            <a:endParaRPr b="0" i="0" sz="6258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413"/>
              </a:spcBef>
              <a:spcAft>
                <a:spcPts val="0"/>
              </a:spcAft>
              <a:buClr>
                <a:srgbClr val="000000"/>
              </a:buClr>
              <a:buSzPts val="5973"/>
              <a:buFont typeface="Arial"/>
              <a:buNone/>
            </a:pPr>
            <a:r>
              <a:rPr b="0" i="0" lang="ar" sz="5973" u="none" cap="none" strike="noStrike">
                <a:solidFill>
                  <a:srgbClr val="A5B4F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خطة الأسبوعين المقبلين: تجارب مستخدمين، إشعارات ذكية، ونسخة تجريبية عامة.</a:t>
            </a:r>
            <a:endParaRPr b="0" i="0" sz="5973" u="none" cap="none" strike="noStrike">
              <a:solidFill>
                <a:srgbClr val="A5B4F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cxnSp>
        <p:nvCxnSpPr>
          <p:cNvPr id="197" name="Google Shape;197;p25"/>
          <p:cNvCxnSpPr/>
          <p:nvPr/>
        </p:nvCxnSpPr>
        <p:spPr>
          <a:xfrm>
            <a:off x="58924500" y="5837900"/>
            <a:ext cx="0" cy="2073300"/>
          </a:xfrm>
          <a:prstGeom prst="straightConnector1">
            <a:avLst/>
          </a:prstGeom>
          <a:noFill/>
          <a:ln cap="flat" cmpd="sng" w="76200">
            <a:solidFill>
              <a:srgbClr val="BCA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25"/>
          <p:cNvCxnSpPr/>
          <p:nvPr/>
        </p:nvCxnSpPr>
        <p:spPr>
          <a:xfrm>
            <a:off x="39610350" y="5837900"/>
            <a:ext cx="0" cy="2073300"/>
          </a:xfrm>
          <a:prstGeom prst="straightConnector1">
            <a:avLst/>
          </a:prstGeom>
          <a:noFill/>
          <a:ln cap="flat" cmpd="sng" w="76200">
            <a:solidFill>
              <a:srgbClr val="BCA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25"/>
          <p:cNvCxnSpPr/>
          <p:nvPr/>
        </p:nvCxnSpPr>
        <p:spPr>
          <a:xfrm>
            <a:off x="20296200" y="5837900"/>
            <a:ext cx="0" cy="2073300"/>
          </a:xfrm>
          <a:prstGeom prst="straightConnector1">
            <a:avLst/>
          </a:prstGeom>
          <a:noFill/>
          <a:ln cap="flat" cmpd="sng" w="76200">
            <a:solidFill>
              <a:srgbClr val="BCA6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/>
        </p:nvSpPr>
        <p:spPr>
          <a:xfrm>
            <a:off x="38467693" y="7139040"/>
            <a:ext cx="21230700" cy="21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20100" lIns="520100" spcFirstLastPara="1" rIns="520100" wrap="square" tIns="520100">
            <a:normAutofit fontScale="400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ar" sz="22756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b="1" i="0" sz="22756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28884613" y="9184240"/>
            <a:ext cx="30813000" cy="18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100" lIns="520100" spcFirstLastPara="1" rIns="520100" wrap="square" tIns="520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98"/>
              <a:buFont typeface="Arial"/>
              <a:buNone/>
            </a:pPr>
            <a:r>
              <a:rPr b="1" i="0" lang="ar" sz="16498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b="1" i="0" sz="16498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5917" y="2140713"/>
            <a:ext cx="6156308" cy="120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09095" y="1230627"/>
            <a:ext cx="4948550" cy="30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3376" y="2022452"/>
            <a:ext cx="3808522" cy="14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